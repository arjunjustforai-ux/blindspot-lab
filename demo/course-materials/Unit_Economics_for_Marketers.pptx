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ROAS (x)</c:v>
                </c:pt>
              </c:strCache>
            </c:strRef>
          </c:tx>
          <c:cat>
            <c:strRef>
              <c:f>Sheet1!$A$2:$A$5</c:f>
              <c:strCache>
                <c:ptCount val="4"/>
                <c:pt idx="0">
                  <c:v>Search</c:v>
                </c:pt>
                <c:pt idx="1">
                  <c:v>Social</c:v>
                </c:pt>
                <c:pt idx="2">
                  <c:v>Display</c:v>
                </c:pt>
                <c:pt idx="3">
                  <c:v>Email</c:v>
                </c:pt>
              </c:strCache>
            </c:strRef>
          </c:cat>
          <c:val>
            <c:numRef>
              <c:f>Sheet1!$B$2:$B$5</c:f>
              <c:numCache>
                <c:formatCode>General</c:formatCode>
                <c:ptCount val="4"/>
                <c:pt idx="0">
                  <c:v>4.0</c:v>
                </c:pt>
                <c:pt idx="1">
                  <c:v>2.0</c:v>
                </c:pt>
                <c:pt idx="2">
                  <c:v>1.5</c:v>
                </c:pt>
                <c:pt idx="3">
                  <c:v>9.0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accompanies the primer chapter on contribution margin and ROAS. Synthetic teaching material created for the Blindspot Lab demonstration. All companies, prices and results are fictional.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of the funnel loses people. The overall conversion rate is purchases divided by visitors, so the paid search funnel in our example converts at 2.5 percent. The biggest drop is between product views and add to cart.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to celebrate revenue growth that came from discounting. Always ask what each sale contributes after its variable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₹1,200 jacket with an ₹800 variable cost, contribution per unit is ₹400 and the contribution margin ratio is one third.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answer with the revenue figure. The question is what the business keeps after variable costs, so the contribution figure of 42.9 percent is the one that protects profit.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waterfall shows that after the discount most of the price goes to variable costs: only ₹280 of the ₹1,080 discounted price remains as contribution per jacket.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Display and Social are above 1 but below the break-even ROAS of 2.5, so they lose money on a contribution basis. Search and Email are above break-even.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Break-even ROAS is one divided by the contribution margin ratio. Lower margins need much higher ROAS.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subscription box customer paying ₹600 a month at a 30 percent contribution margin ratio generates ₹180 of contribution per month. With a CAC of ₹720 the payback period is four months.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synthetic test, the holdout group that never saw the loyalty-app promotion spent ₹1,950 per month on average, compared with ₹2,050 for the promoted group, a lift of about 5 percent.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teaching material created for the Blindspot Lab demonstration. All companies, prices and results are fictional.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2103120"/>
            <a:ext cx="11064240" cy="1371600"/>
          </a:xfrm>
        </p:spPr>
        <p:txBody>
          <a:bodyPr/>
          <a:lstStyle/>
          <a:p>
            <a:r>
              <a:t>Unit Economics for Marketers</a:t>
            </a:r>
          </a:p>
        </p:txBody>
      </p:sp>
      <p:sp>
        <p:nvSpPr>
          <p:cNvPr id="3" name="Subtitle 2"/>
          <p:cNvSpPr>
            <a:spLocks noGrp="1"/>
          </p:cNvSpPr>
          <p:nvPr>
            <p:ph type="subTitle" idx="1"/>
          </p:nvPr>
        </p:nvSpPr>
        <p:spPr>
          <a:xfrm>
            <a:off x="548640" y="3657600"/>
            <a:ext cx="11064240" cy="914400"/>
          </a:xfrm>
        </p:spPr>
        <p:txBody>
          <a:bodyPr/>
          <a:lstStyle/>
          <a:p>
            <a:r>
              <a:t>Blindspot Lab demo deck · Lecture 2 · synthetic examples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From Visitors to Customers: The Funnel</a:t>
            </a:r>
          </a:p>
        </p:txBody>
      </p:sp>
      <p:sp>
        <p:nvSpPr>
          <p:cNvPr id="3" name="Rectangle 2"/>
          <p:cNvSpPr/>
          <p:nvPr/>
        </p:nvSpPr>
        <p:spPr>
          <a:xfrm>
            <a:off x="1981047" y="1554480"/>
            <a:ext cx="8229600" cy="8686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Visitors: 20,000</a:t>
            </a:r>
          </a:p>
        </p:txBody>
      </p:sp>
      <p:sp>
        <p:nvSpPr>
          <p:cNvPr id="4" name="Rectangle 3"/>
          <p:cNvSpPr/>
          <p:nvPr/>
        </p:nvSpPr>
        <p:spPr>
          <a:xfrm>
            <a:off x="2804007" y="2606039"/>
            <a:ext cx="6583680" cy="86868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Product views: 6,000</a:t>
            </a:r>
          </a:p>
        </p:txBody>
      </p:sp>
      <p:sp>
        <p:nvSpPr>
          <p:cNvPr id="5" name="Rectangle 4"/>
          <p:cNvSpPr/>
          <p:nvPr/>
        </p:nvSpPr>
        <p:spPr>
          <a:xfrm>
            <a:off x="3626967" y="3657600"/>
            <a:ext cx="4937760" cy="86868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Add to cart: 1,200</a:t>
            </a:r>
          </a:p>
        </p:txBody>
      </p:sp>
      <p:sp>
        <p:nvSpPr>
          <p:cNvPr id="6" name="Rectangle 5"/>
          <p:cNvSpPr/>
          <p:nvPr/>
        </p:nvSpPr>
        <p:spPr>
          <a:xfrm>
            <a:off x="4449928" y="4709159"/>
            <a:ext cx="3291839" cy="8686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FFFFFF"/>
                </a:solidFill>
              </a:rPr>
              <a:t>Purchases: 500</a:t>
            </a:r>
          </a:p>
        </p:txBody>
      </p:sp>
      <p:sp>
        <p:nvSpPr>
          <p:cNvPr id="7" name="TextBox 6"/>
          <p:cNvSpPr txBox="1"/>
          <p:nvPr/>
        </p:nvSpPr>
        <p:spPr>
          <a:xfrm>
            <a:off x="731520" y="5943600"/>
            <a:ext cx="10515600" cy="640080"/>
          </a:xfrm>
          <a:prstGeom prst="rect">
            <a:avLst/>
          </a:prstGeom>
          <a:noFill/>
        </p:spPr>
        <p:txBody>
          <a:bodyPr wrap="none">
            <a:spAutoFit/>
          </a:bodyPr>
          <a:lstStyle/>
          <a:p>
            <a:r>
              <a:rPr sz="2200"/>
              <a:t>Overall conversion rate = 500 ÷ 20,000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Revenue Is Not Profit</a:t>
            </a:r>
          </a:p>
        </p:txBody>
      </p:sp>
      <p:sp>
        <p:nvSpPr>
          <p:cNvPr id="3" name="Content Placeholder 2"/>
          <p:cNvSpPr>
            <a:spLocks noGrp="1"/>
          </p:cNvSpPr>
          <p:nvPr>
            <p:ph idx="1"/>
          </p:nvPr>
        </p:nvSpPr>
        <p:spPr>
          <a:xfrm>
            <a:off x="731520" y="1463040"/>
            <a:ext cx="10698480" cy="4846320"/>
          </a:xfrm>
        </p:spPr>
        <p:txBody>
          <a:bodyPr/>
          <a:lstStyle/>
          <a:p>
            <a:r>
              <a:rPr sz="2600"/>
              <a:t>Revenue = price × units sold</a:t>
            </a:r>
          </a:p>
          <a:p>
            <a:r>
              <a:rPr sz="2600"/>
              <a:t>Variable costs rise with every unit sold</a:t>
            </a:r>
          </a:p>
          <a:p>
            <a:r>
              <a:rPr sz="2600"/>
              <a:t>Profit appears only after variable and fixed costs are covered</a:t>
            </a:r>
          </a:p>
          <a:p>
            <a:r>
              <a:rPr sz="2600"/>
              <a:t>Growing revenue can still shrink profit if each sale earns less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Contribution Margin</a:t>
            </a:r>
          </a:p>
        </p:txBody>
      </p:sp>
      <p:sp>
        <p:nvSpPr>
          <p:cNvPr id="3" name="Content Placeholder 2"/>
          <p:cNvSpPr>
            <a:spLocks noGrp="1"/>
          </p:cNvSpPr>
          <p:nvPr>
            <p:ph idx="1"/>
          </p:nvPr>
        </p:nvSpPr>
        <p:spPr>
          <a:xfrm>
            <a:off x="731520" y="1463040"/>
            <a:ext cx="10698480" cy="4846320"/>
          </a:xfrm>
        </p:spPr>
        <p:txBody>
          <a:bodyPr/>
          <a:lstStyle/>
          <a:p>
            <a:r>
              <a:rPr sz="2600"/>
              <a:t>Contribution margin per unit = price − variable cost</a:t>
            </a:r>
          </a:p>
          <a:p>
            <a:r>
              <a:rPr sz="2600"/>
              <a:t>Contribution margin ratio = contribution ÷ price</a:t>
            </a:r>
          </a:p>
          <a:p>
            <a:r>
              <a:rPr sz="2600"/>
              <a:t>Total contribution = contribution per unit × units sold</a:t>
            </a:r>
          </a:p>
          <a:p>
            <a:r>
              <a:rPr sz="2600"/>
              <a:t>Contribution pays for fixed costs first, then becomes profit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Price Cuts Need More Volume Than You Think</a:t>
            </a:r>
          </a:p>
        </p:txBody>
      </p:sp>
      <p:sp>
        <p:nvSpPr>
          <p:cNvPr id="3" name="Content Placeholder 2"/>
          <p:cNvSpPr>
            <a:spLocks noGrp="1"/>
          </p:cNvSpPr>
          <p:nvPr>
            <p:ph idx="1"/>
          </p:nvPr>
        </p:nvSpPr>
        <p:spPr>
          <a:xfrm>
            <a:off x="731520" y="1463040"/>
            <a:ext cx="10698480" cy="4846320"/>
          </a:xfrm>
        </p:spPr>
        <p:txBody>
          <a:bodyPr/>
          <a:lstStyle/>
          <a:p>
            <a:r>
              <a:rPr sz="2600"/>
              <a:t>Jacket price: ₹1,200 → ₹1,080 (a 10% cut)</a:t>
            </a:r>
          </a:p>
          <a:p>
            <a:r>
              <a:rPr sz="2600"/>
              <a:t>Variable cost stays at ₹800</a:t>
            </a:r>
          </a:p>
          <a:p>
            <a:r>
              <a:rPr sz="2600"/>
              <a:t>Contribution per unit: ₹400 → ₹280</a:t>
            </a:r>
          </a:p>
          <a:p>
            <a:r>
              <a:rPr sz="2600"/>
              <a:t>Volume needed to keep contribution: 400 ÷ 280 − 1 = +42.9%</a:t>
            </a:r>
          </a:p>
          <a:p>
            <a:r>
              <a:rPr sz="2600"/>
              <a:t>Volume needed to keep revenue: only +11.1%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Where the Money Goes</a:t>
            </a:r>
          </a:p>
        </p:txBody>
      </p:sp>
      <p:pic>
        <p:nvPicPr>
          <p:cNvPr id="3" name="Picture 2" descr="waterfall.png"/>
          <p:cNvPicPr>
            <a:picLocks noChangeAspect="1"/>
          </p:cNvPicPr>
          <p:nvPr/>
        </p:nvPicPr>
        <p:blipFill>
          <a:blip r:embed="rId2"/>
          <a:stretch>
            <a:fillRect/>
          </a:stretch>
        </p:blipFill>
        <p:spPr>
          <a:xfrm>
            <a:off x="1280160" y="1371600"/>
            <a:ext cx="9601200" cy="48646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ROAS by Channel</a:t>
            </a:r>
          </a:p>
        </p:txBody>
      </p:sp>
      <p:graphicFrame>
        <p:nvGraphicFramePr>
          <p:cNvPr id="3" name="Chart 2"/>
          <p:cNvGraphicFramePr>
            <a:graphicFrameLocks noGrp="1"/>
          </p:cNvGraphicFramePr>
          <p:nvPr/>
        </p:nvGraphicFramePr>
        <p:xfrm>
          <a:off x="731520" y="1371600"/>
          <a:ext cx="7315200" cy="4846320"/>
        </p:xfrm>
        <a:graphic>
          <a:graphicData uri="http://schemas.openxmlformats.org/drawingml/2006/chart">
            <c:chart xmlns:c="http://schemas.openxmlformats.org/drawingml/2006/chart" r:id="rId2"/>
          </a:graphicData>
        </a:graphic>
      </p:graphicFrame>
      <p:sp>
        <p:nvSpPr>
          <p:cNvPr id="4" name="TextBox 3"/>
          <p:cNvSpPr txBox="1"/>
          <p:nvPr/>
        </p:nvSpPr>
        <p:spPr>
          <a:xfrm>
            <a:off x="8321040" y="2194560"/>
            <a:ext cx="3566160" cy="2743200"/>
          </a:xfrm>
          <a:prstGeom prst="rect">
            <a:avLst/>
          </a:prstGeom>
          <a:noFill/>
        </p:spPr>
        <p:txBody>
          <a:bodyPr wrap="square">
            <a:spAutoFit/>
          </a:bodyPr>
          <a:lstStyle/>
          <a:p>
            <a:r>
              <a:rPr sz="2200"/>
              <a:t>Break-even ROAS at a 40% contribution margin ratio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Break-even ROAS</a:t>
            </a:r>
          </a:p>
        </p:txBody>
      </p:sp>
      <p:graphicFrame>
        <p:nvGraphicFramePr>
          <p:cNvPr id="3" name="Table 2"/>
          <p:cNvGraphicFramePr>
            <a:graphicFrameLocks noGrp="1"/>
          </p:cNvGraphicFramePr>
          <p:nvPr/>
        </p:nvGraphicFramePr>
        <p:xfrm>
          <a:off x="2286000" y="1463040"/>
          <a:ext cx="7589520" cy="4206240"/>
        </p:xfrm>
        <a:graphic>
          <a:graphicData uri="http://schemas.openxmlformats.org/drawingml/2006/table">
            <a:tbl>
              <a:tblPr firstRow="1" bandRow="1">
                <a:tableStyleId>{5C22544A-7EE6-4342-B048-85BDC9FD1C3A}</a:tableStyleId>
              </a:tblPr>
              <a:tblGrid>
                <a:gridCol w="3794760"/>
                <a:gridCol w="3794760"/>
              </a:tblGrid>
              <a:tr h="701040">
                <a:tc>
                  <a:txBody>
                    <a:bodyPr/>
                    <a:lstStyle/>
                    <a:p>
                      <a:r>
                        <a:rPr sz="2200"/>
                        <a:t>Contribution margin ratio</a:t>
                      </a:r>
                    </a:p>
                  </a:txBody>
                  <a:tcPr/>
                </a:tc>
                <a:tc>
                  <a:txBody>
                    <a:bodyPr/>
                    <a:lstStyle/>
                    <a:p>
                      <a:r>
                        <a:rPr sz="2200"/>
                        <a:t>Break-even ROAS</a:t>
                      </a:r>
                    </a:p>
                  </a:txBody>
                  <a:tcPr/>
                </a:tc>
              </a:tr>
              <a:tr h="701040">
                <a:tc>
                  <a:txBody>
                    <a:bodyPr/>
                    <a:lstStyle/>
                    <a:p>
                      <a:r>
                        <a:rPr sz="2200"/>
                        <a:t>20%</a:t>
                      </a:r>
                    </a:p>
                  </a:txBody>
                  <a:tcPr/>
                </a:tc>
                <a:tc>
                  <a:txBody>
                    <a:bodyPr/>
                    <a:lstStyle/>
                    <a:p>
                      <a:r>
                        <a:rPr sz="2200"/>
                        <a:t>5.0x</a:t>
                      </a:r>
                    </a:p>
                  </a:txBody>
                  <a:tcPr/>
                </a:tc>
              </a:tr>
              <a:tr h="701040">
                <a:tc>
                  <a:txBody>
                    <a:bodyPr/>
                    <a:lstStyle/>
                    <a:p>
                      <a:r>
                        <a:rPr sz="2200"/>
                        <a:t>25%</a:t>
                      </a:r>
                    </a:p>
                  </a:txBody>
                  <a:tcPr/>
                </a:tc>
                <a:tc>
                  <a:txBody>
                    <a:bodyPr/>
                    <a:lstStyle/>
                    <a:p>
                      <a:r>
                        <a:rPr sz="2200"/>
                        <a:t>4.0x</a:t>
                      </a:r>
                    </a:p>
                  </a:txBody>
                  <a:tcPr/>
                </a:tc>
              </a:tr>
              <a:tr h="701040">
                <a:tc>
                  <a:txBody>
                    <a:bodyPr/>
                    <a:lstStyle/>
                    <a:p>
                      <a:r>
                        <a:rPr sz="2200"/>
                        <a:t>40%</a:t>
                      </a:r>
                    </a:p>
                  </a:txBody>
                  <a:tcPr/>
                </a:tc>
                <a:tc>
                  <a:txBody>
                    <a:bodyPr/>
                    <a:lstStyle/>
                    <a:p>
                      <a:r>
                        <a:rPr sz="2200"/>
                        <a:t>2.5x</a:t>
                      </a:r>
                    </a:p>
                  </a:txBody>
                  <a:tcPr/>
                </a:tc>
              </a:tr>
              <a:tr h="701040">
                <a:tc>
                  <a:txBody>
                    <a:bodyPr/>
                    <a:lstStyle/>
                    <a:p>
                      <a:r>
                        <a:rPr sz="2200"/>
                        <a:t>50%</a:t>
                      </a:r>
                    </a:p>
                  </a:txBody>
                  <a:tcPr/>
                </a:tc>
                <a:tc>
                  <a:txBody>
                    <a:bodyPr/>
                    <a:lstStyle/>
                    <a:p>
                      <a:r>
                        <a:rPr sz="2200"/>
                        <a:t>2.0x</a:t>
                      </a:r>
                    </a:p>
                  </a:txBody>
                  <a:tcPr/>
                </a:tc>
              </a:tr>
              <a:tr h="701040">
                <a:tc>
                  <a:txBody>
                    <a:bodyPr/>
                    <a:lstStyle/>
                    <a:p>
                      <a:r>
                        <a:rPr sz="2200"/>
                        <a:t>60%</a:t>
                      </a:r>
                    </a:p>
                  </a:txBody>
                  <a:tcPr/>
                </a:tc>
                <a:tc>
                  <a:txBody>
                    <a:bodyPr/>
                    <a:lstStyle/>
                    <a:p>
                      <a:r>
                        <a:rPr sz="2200"/>
                        <a:t>1.67x</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Acquisition Economics</a:t>
            </a:r>
          </a:p>
        </p:txBody>
      </p:sp>
      <p:sp>
        <p:nvSpPr>
          <p:cNvPr id="3" name="Content Placeholder 2"/>
          <p:cNvSpPr>
            <a:spLocks noGrp="1"/>
          </p:cNvSpPr>
          <p:nvPr>
            <p:ph idx="1"/>
          </p:nvPr>
        </p:nvSpPr>
        <p:spPr>
          <a:xfrm>
            <a:off x="731520" y="1463040"/>
            <a:ext cx="10698480" cy="4846320"/>
          </a:xfrm>
        </p:spPr>
        <p:txBody>
          <a:bodyPr/>
          <a:lstStyle/>
          <a:p>
            <a:r>
              <a:rPr sz="2600"/>
              <a:t>CAC = sales and marketing spend ÷ new customers</a:t>
            </a:r>
          </a:p>
          <a:p>
            <a:r>
              <a:rPr sz="2600"/>
              <a:t>CLV should be based on contribution, not revenue</a:t>
            </a:r>
          </a:p>
          <a:p>
            <a:r>
              <a:rPr sz="2600"/>
              <a:t>Payback period = CAC ÷ monthly contribution per customer</a:t>
            </a:r>
          </a:p>
          <a:p>
            <a:r>
              <a:rPr sz="2600"/>
              <a:t>Example: ₹600 monthly revenue at a 30% margin = ₹180 contribution per month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Correlation Is Not Causation</a:t>
            </a:r>
          </a:p>
        </p:txBody>
      </p:sp>
      <p:sp>
        <p:nvSpPr>
          <p:cNvPr id="3" name="Content Placeholder 2"/>
          <p:cNvSpPr>
            <a:spLocks noGrp="1"/>
          </p:cNvSpPr>
          <p:nvPr>
            <p:ph idx="1"/>
          </p:nvPr>
        </p:nvSpPr>
        <p:spPr>
          <a:xfrm>
            <a:off x="731520" y="1463040"/>
            <a:ext cx="10698480" cy="4846320"/>
          </a:xfrm>
        </p:spPr>
        <p:txBody>
          <a:bodyPr/>
          <a:lstStyle/>
          <a:p>
            <a:r>
              <a:rPr sz="2600"/>
              <a:t>Loyalty-app users spend more, but who chooses to install the app?</a:t>
            </a:r>
          </a:p>
          <a:p>
            <a:r>
              <a:rPr sz="2600"/>
              <a:t>Confounders can create correlations without causation</a:t>
            </a:r>
          </a:p>
          <a:p>
            <a:r>
              <a:rPr sz="2600"/>
              <a:t>Randomised A/B tests balance confounders on average</a:t>
            </a:r>
          </a:p>
          <a:p>
            <a:r>
              <a:rPr sz="2600"/>
              <a:t>Ask whether an effect is large enough to matter, not only whether it is significant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1005840"/>
          </a:xfrm>
        </p:spPr>
        <p:txBody>
          <a:bodyPr/>
          <a:lstStyle/>
          <a:p>
            <a:r>
              <a:t>Key Takeaways</a:t>
            </a:r>
          </a:p>
        </p:txBody>
      </p:sp>
      <p:sp>
        <p:nvSpPr>
          <p:cNvPr id="3" name="Content Placeholder 2"/>
          <p:cNvSpPr>
            <a:spLocks noGrp="1"/>
          </p:cNvSpPr>
          <p:nvPr>
            <p:ph idx="1"/>
          </p:nvPr>
        </p:nvSpPr>
        <p:spPr>
          <a:xfrm>
            <a:off x="731520" y="1463040"/>
            <a:ext cx="10698480" cy="4846320"/>
          </a:xfrm>
        </p:spPr>
        <p:txBody>
          <a:bodyPr/>
          <a:lstStyle/>
          <a:p>
            <a:r>
              <a:rPr sz="2600"/>
              <a:t>Judge pricing and campaigns on contribution, not revenue</a:t>
            </a:r>
          </a:p>
          <a:p>
            <a:r>
              <a:rPr sz="2600"/>
              <a:t>Break-even ROAS = 1 ÷ contribution margin ratio</a:t>
            </a:r>
          </a:p>
          <a:p>
            <a:r>
              <a:rPr sz="2600"/>
              <a:t>Compare CAC with contribution-based CLV</a:t>
            </a:r>
          </a:p>
          <a:p>
            <a:r>
              <a:rPr sz="2600"/>
              <a:t>Use experiments before claiming causal effects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Economics for Marketers</dc:title>
  <dc:subject/>
  <dc:creator>Blindspot Lab team (synthetic demo material)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